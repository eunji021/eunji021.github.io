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4384000" cy="13716000"/>
  <p:notesSz cx="6858000" cy="9144000"/>
  <p:embeddedFontLst>
    <p:embeddedFont>
      <p:font typeface="Geologica Roman SemiBold"/>
      <p:bold r:id="rId12"/>
    </p:embeddedFont>
    <p:embeddedFont>
      <p:font typeface="THELuxGoB"/>
      <p:regular r:id="rId13"/>
    </p:embeddedFont>
    <p:embeddedFont>
      <p:font typeface="THELuxGoR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.fntdata" Type="http://schemas.openxmlformats.org/officeDocument/2006/relationships/font"/><Relationship Id="rId13" Target="fonts/font2.fntdata" Type="http://schemas.openxmlformats.org/officeDocument/2006/relationships/font"/><Relationship Id="rId14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11900" y="736600"/>
            <a:ext cx="46482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실시간 안전 장비 착용 여부 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600" y="2120900"/>
            <a:ext cx="75946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1. 프로젝트 개요 및 배경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2500" y="3911600"/>
            <a:ext cx="5727700" cy="673100"/>
          </a:xfrm>
          <a:prstGeom prst="rect">
            <a:avLst/>
          </a:prstGeom>
        </p:spPr>
        <p:txBody>
          <a:bodyPr anchor="ctr" rtlCol="false" lIns="0" tIns="50375" rIns="0" bIns="50375"/>
          <a:lstStyle/>
          <a:p>
            <a:pPr algn="l" lvl="0">
              <a:lnSpc>
                <a:spcPct val="98770"/>
              </a:lnSpc>
            </a:pPr>
            <a:r>
              <a:rPr lang="en-US" sz="3777" b="false" i="false" u="none" strike="noStrike" spc="-100">
                <a:solidFill>
                  <a:srgbClr val="3ACCAD"/>
                </a:solidFill>
                <a:latin typeface="THELuxGoB"/>
                <a:ea typeface="THELuxGoB"/>
                <a:cs typeface="THELuxGoB"/>
              </a:rPr>
              <a:t>❶ </a:t>
            </a:r>
            <a:r>
              <a:rPr lang="en-US" sz="3777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현실적인 문제점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2500" y="4914900"/>
            <a:ext cx="89281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9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기존 현장의 안전관리는 CCTV 모니터링과 관리자의 수동 점검에 전적으로 의존함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30200" y="3911600"/>
            <a:ext cx="5727700" cy="673100"/>
          </a:xfrm>
          <a:prstGeom prst="rect">
            <a:avLst/>
          </a:prstGeom>
        </p:spPr>
        <p:txBody>
          <a:bodyPr anchor="ctr" rtlCol="false" lIns="0" tIns="50375" rIns="0" bIns="50375"/>
          <a:lstStyle/>
          <a:p>
            <a:pPr algn="l" lvl="0">
              <a:lnSpc>
                <a:spcPct val="98770"/>
              </a:lnSpc>
            </a:pPr>
            <a:r>
              <a:rPr lang="en-US" sz="3777" b="false" i="false" u="none" strike="noStrike" spc="-100">
                <a:solidFill>
                  <a:srgbClr val="3ACCAD"/>
                </a:solidFill>
                <a:latin typeface="THELuxGoB"/>
                <a:ea typeface="THELuxGoB"/>
                <a:cs typeface="THELuxGoB"/>
              </a:rPr>
              <a:t>❷</a:t>
            </a:r>
            <a:r>
              <a:rPr lang="en-US" sz="3777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 해결하기 위한 솔루션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30200" y="4914900"/>
            <a:ext cx="86741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9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ESP32 메인 MCU와 다중 센서(자이로·압력)를 융합한 웨어러블 디바이스 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7100" y="6654800"/>
            <a:ext cx="89789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9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작업자의 안전모/조끼 미착용이나 사각지대에서의 낙상 사고 발생 시, 실시간 인지가 불가능하여 초기 대응(골든타임)을 놓치는 한계가 존재함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88900" y="6527800"/>
            <a:ext cx="91440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9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 장비를 착용하는 즉시 상태를 판정하고, 이상 징후 발생 시 BLE 통신을 통해 관리자 앱으로 즉각 경고를 전송하여 현장 안전 인프라를 디지털화함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156200" y="9855200"/>
            <a:ext cx="162814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197100" y="13106400"/>
            <a:ext cx="19316700" cy="25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235200" y="9537700"/>
            <a:ext cx="48641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l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최종 개발 목표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1300" y="10502900"/>
            <a:ext cx="126492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>
              <a:lnSpc>
                <a:spcPct val="135289"/>
              </a:lnSpc>
            </a:pPr>
            <a:r>
              <a:rPr lang="en-US" sz="29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[현장 자동화] 인력 중심 점검을 탈피한 상시 자동 안전 감지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1300" y="11366500"/>
            <a:ext cx="126492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>
              <a:lnSpc>
                <a:spcPct val="135289"/>
              </a:lnSpc>
            </a:pPr>
            <a:r>
              <a:rPr lang="en-US" sz="29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[기구 최적화] 현장 충격을 견디는 소형화 및 내구성 확보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81300" y="12230100"/>
            <a:ext cx="126492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>
              <a:lnSpc>
                <a:spcPct val="135289"/>
              </a:lnSpc>
            </a:pPr>
            <a:r>
              <a:rPr lang="en-US" sz="29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[통신 확장성] 대규모 디바이스 밀집 환경에서의 데이터 송수신 안정화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11900" y="4267200"/>
            <a:ext cx="2044700" cy="356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60300" y="4292600"/>
            <a:ext cx="2108200" cy="364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5892800" y="10579100"/>
            <a:ext cx="4762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612900" y="8204200"/>
            <a:ext cx="215011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011900" y="736600"/>
            <a:ext cx="46482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실시간 안전 장비 착용 여부 시스템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600" y="2120900"/>
            <a:ext cx="78359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2. 전체적인 시스템 흐름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7700" y="35179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ESP32 송신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200" y="85090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1. RSSI 거리 측정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0500" y="9499600"/>
            <a:ext cx="6654800" cy="161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송신기와 수신기 사이의 무선 신호 세기(RSSI)를 실시간으로 측정하여 작업자의 위치 이탈 여부 판단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85090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2. 엣지 센싱 알림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3944600" y="10642600"/>
            <a:ext cx="4889500" cy="25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716500" y="8509000"/>
            <a:ext cx="43561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3. 스마트 앱 관리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6700" y="12153900"/>
            <a:ext cx="60706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약한 신호 수신 기준: -60 dBm (원거리)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2100" y="11391900"/>
            <a:ext cx="60706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강한 신호 수신 기준: -30 dBm (근거리)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12200" y="9499600"/>
            <a:ext cx="6946900" cy="161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수신기에 장착된 압력 센서 및 기울기 센서를 활용해 작업자의 보호구 착용 상태와 낙상 사고 실시간 감지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13200" y="11099800"/>
            <a:ext cx="69215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현장 관리자 웹/앱 모니터링 화면에 작업자의 안전 상태 정보를 실시간 데이터로 표출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37600" y="11353800"/>
            <a:ext cx="7023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현장 내 비상 상황 및 예외 상태 감지 즉시 디바이스 자체 부저(Buzzer) 경고음 출력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60800" y="9499600"/>
            <a:ext cx="74422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임베디드 디바이스가 패킹하여 송신한 최종 센서 데이터를 스마트폰 관제 앱이 무선 수신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9600" y="34544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ESP32 수신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30700" y="34544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스마트폰 앱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733800" y="4292600"/>
            <a:ext cx="2108200" cy="3644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83800" y="4292600"/>
            <a:ext cx="2108200" cy="3644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90500" y="4546600"/>
            <a:ext cx="1460500" cy="1562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90500" y="6273800"/>
            <a:ext cx="1460500" cy="1536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342100" y="5410200"/>
            <a:ext cx="1397000" cy="14478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-50800" y="12966700"/>
            <a:ext cx="60325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※ esp32의 고유의 MAC를 이용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5842000" y="10528300"/>
            <a:ext cx="4851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74800" y="8115300"/>
            <a:ext cx="215011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011900" y="736600"/>
            <a:ext cx="46482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실시간 안전 장비 착용 여부 시스템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600" y="2120900"/>
            <a:ext cx="131699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3. 세부 구현 과정 (하드웨어 설계 및 제작)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8200" y="37592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초기 회로 설계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7200" y="85090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1. 초기 회로 테스트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900" y="9779000"/>
            <a:ext cx="66040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센서 인터페이스 검증 및 기능 구현 가능성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85090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2. 하드웨어 소형화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399999">
            <a:off x="13893800" y="10591800"/>
            <a:ext cx="4978400" cy="25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716500" y="8509000"/>
            <a:ext cx="47752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3. 외관 케이스 완성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6700" y="11353800"/>
            <a:ext cx="64897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브레드보드 기반의 초기 센서 데이터 수집 및 BLE 무선 통신 기초 기능 테스트 완료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23300" y="9779000"/>
            <a:ext cx="71247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실제 작업 환경에서의 착용성을 확보하기 위한 하드웨어 최적화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37000" y="10820400"/>
            <a:ext cx="7073900" cy="161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실외 현장의 충격, 급격한 온도 변화, 내습성을 극복하기 위해 내구성이 강한 PETG 필라멘트 재질 최종 선정 및 3D 프린팅 출력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99500" y="11353800"/>
            <a:ext cx="71120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만능기판(PCB)을 기반으로 송신기 및 수신기 실물 회로 직접 납땜 및 빌드 완료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76700" y="9499600"/>
            <a:ext cx="7023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721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CADian 3D 모델링 도구를 활용하여 안전모 맞춤형 독자 케이스 외형 설계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5300" y="37592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만능기판(PCB) 회로 납땜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46600" y="37592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ctr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3D 케이스 제작 및 완제품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38400" y="4064000"/>
            <a:ext cx="5334000" cy="424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4381500"/>
            <a:ext cx="3810000" cy="407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954500" y="4559300"/>
            <a:ext cx="3632200" cy="3365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27900" y="3962400"/>
            <a:ext cx="3708400" cy="4533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280400" y="4191000"/>
            <a:ext cx="4737100" cy="408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11900" y="736600"/>
            <a:ext cx="46482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실시간 안전 장비 착용 여부 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600" y="2120900"/>
            <a:ext cx="131699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4. 세부 구현 과정 (어플리케이션 제작)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6100" y="4648200"/>
            <a:ext cx="7378700" cy="571500"/>
          </a:xfrm>
          <a:prstGeom prst="rect">
            <a:avLst/>
          </a:prstGeom>
        </p:spPr>
        <p:txBody>
          <a:bodyPr anchor="ctr" rtlCol="false" lIns="0" tIns="43263" rIns="0" bIns="43263"/>
          <a:lstStyle/>
          <a:p>
            <a:pPr algn="ctr" lvl="0">
              <a:lnSpc>
                <a:spcPct val="98770"/>
              </a:lnSpc>
            </a:pPr>
            <a:r>
              <a:rPr lang="en-US" sz="3244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1. BLE 무선 신호 수신 및 데이터 파싱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2400" y="5537200"/>
            <a:ext cx="66802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작업자 안전모의 ESP32 장비가 보내는 블루투스 신호를 앱에서 실시간으로 수신함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16400" y="4648200"/>
            <a:ext cx="6870700" cy="571500"/>
          </a:xfrm>
          <a:prstGeom prst="rect">
            <a:avLst/>
          </a:prstGeom>
        </p:spPr>
        <p:txBody>
          <a:bodyPr anchor="ctr" rtlCol="false" lIns="0" tIns="43263" rIns="0" bIns="43263"/>
          <a:lstStyle/>
          <a:p>
            <a:pPr algn="ctr" lvl="0">
              <a:lnSpc>
                <a:spcPct val="98770"/>
              </a:lnSpc>
            </a:pPr>
            <a:r>
              <a:rPr lang="en-US" sz="3244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2. 다중 작업자 실시간 데이터 매칭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66100" y="9042400"/>
            <a:ext cx="7569200" cy="571500"/>
          </a:xfrm>
          <a:prstGeom prst="rect">
            <a:avLst/>
          </a:prstGeom>
        </p:spPr>
        <p:txBody>
          <a:bodyPr anchor="ctr" rtlCol="false" lIns="0" tIns="43263" rIns="0" bIns="43263"/>
          <a:lstStyle/>
          <a:p>
            <a:pPr algn="ctr" lvl="0">
              <a:lnSpc>
                <a:spcPct val="98770"/>
              </a:lnSpc>
            </a:pPr>
            <a:r>
              <a:rPr lang="en-US" sz="3244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Step 3. 표 형태의 화면 구성과 확장성 고려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4300" y="6794500"/>
            <a:ext cx="63881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들어오는 신호 데이터 묶음을 이름, 위치, 착용 상태 값으로 각각 쪼개서 처리함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03700" y="5537200"/>
            <a:ext cx="72009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받아온 데이터를 화면의 작업자1, 작업자2 칸에 끊김 없이 바로 매칭해 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1239500"/>
            <a:ext cx="70358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하단에 여유 공간을 두어, 나중에 현장 인원이 더 늘어나더라도 화면 구조를 그대로 유지할 수 있게 설계함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79900" y="6794500"/>
            <a:ext cx="71882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여러 명의 현장 작업자 상태를 관리자가 한 화면에서 한눈에 모니터링할 수 있도록 구현함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1600" y="9956800"/>
            <a:ext cx="72390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5289"/>
              </a:lnSpc>
            </a:pPr>
            <a:r>
              <a:rPr lang="en-US" sz="2454" b="false" i="false" u="none" strike="noStrike" spc="-2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관리자가 급한 상황에서도 헷갈리지 않게 이름, 위치, 착용상태를 깔끔한 표 형태로 배치하여 가독성을 높임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700" y="3683000"/>
            <a:ext cx="7264400" cy="1003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51200" y="5410200"/>
            <a:ext cx="7264400" cy="2108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63900" y="4127500"/>
            <a:ext cx="7251700" cy="749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062700" y="736600"/>
            <a:ext cx="45974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실시간 안전 장비 착용 여부 시스템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122400" y="5270500"/>
            <a:ext cx="7200900" cy="223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58900" y="4127500"/>
            <a:ext cx="7200900" cy="749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4600" y="2120900"/>
            <a:ext cx="124968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5. 개발 과정 중 기술적 과제 및 극복 과정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2500" y="5969000"/>
            <a:ext cx="68580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1. BLE RSSI 무선 신호 값의 환경적 노이즈 및 이에 따른 데이터 불안정 현상 발생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1200" y="4203700"/>
            <a:ext cx="7327900" cy="596900"/>
          </a:xfrm>
          <a:prstGeom prst="rect">
            <a:avLst/>
          </a:prstGeom>
        </p:spPr>
        <p:txBody>
          <a:bodyPr anchor="ctr" rtlCol="false" lIns="0" tIns="45046" rIns="0" bIns="45046"/>
          <a:lstStyle/>
          <a:p>
            <a:pPr algn="ctr" lvl="0">
              <a:lnSpc>
                <a:spcPct val="98770"/>
              </a:lnSpc>
            </a:pPr>
            <a:r>
              <a:rPr lang="en-US" sz="3378" b="false" i="false" u="none" strike="noStrike" spc="-100">
                <a:solidFill>
                  <a:srgbClr val="FFFFFF"/>
                </a:solidFill>
                <a:latin typeface="THELuxGoB"/>
                <a:ea typeface="THELuxGoB"/>
                <a:cs typeface="THELuxGoB"/>
              </a:rPr>
              <a:t>원인(Cause)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39900" y="5626100"/>
            <a:ext cx="6642100" cy="153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1. 신호 수신 주기를 최적화하고, 10회 연속 측정 후 평균값을 산출하는 소프트웨어 필터링 알고리즘 적용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8900" y="4203700"/>
            <a:ext cx="7073900" cy="596900"/>
          </a:xfrm>
          <a:prstGeom prst="rect">
            <a:avLst/>
          </a:prstGeom>
        </p:spPr>
        <p:txBody>
          <a:bodyPr anchor="ctr" rtlCol="false" lIns="0" tIns="45046" rIns="0" bIns="45046"/>
          <a:lstStyle/>
          <a:p>
            <a:pPr algn="ctr" lvl="0">
              <a:lnSpc>
                <a:spcPct val="98770"/>
              </a:lnSpc>
            </a:pPr>
            <a:r>
              <a:rPr lang="en-US" sz="3378" b="false" i="false" u="none" strike="noStrike" spc="-100">
                <a:solidFill>
                  <a:srgbClr val="FFFFFF"/>
                </a:solidFill>
                <a:latin typeface="THELuxGoB"/>
                <a:ea typeface="THELuxGoB"/>
                <a:cs typeface="THELuxGoB"/>
              </a:rPr>
              <a:t>결과(Effect)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51200" y="7962900"/>
            <a:ext cx="7264400" cy="2019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505200" y="8470900"/>
            <a:ext cx="68453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2. 리튬 배터리 구동 시 일시적으로 발생하는 전압 강하로 인해 센서 오작동 유발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51200" y="10604500"/>
            <a:ext cx="7264400" cy="1943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3505200" y="11074400"/>
            <a:ext cx="68453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7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3. 하우징 조립 과정 중 내부의 미세한 간섭으로 인해 부저(Buzzer) 쇼트 및 오작동 발생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122400" y="7861300"/>
            <a:ext cx="7200900" cy="2235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39900" y="8204200"/>
            <a:ext cx="6642100" cy="153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2. 하드웨어 전원 공급의 전압을 고정하기 위해 회로 내 승압기(Step-up Converter) 추가 설계 적용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122400" y="10502900"/>
            <a:ext cx="7200900" cy="2044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4516100" y="11023600"/>
            <a:ext cx="66421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3. PCB 기판에 절연테이프 마감 처리를 진행하여 미세 접촉으로 인한 전기적 간섭 원천 차단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1938000" y="6096000"/>
            <a:ext cx="495300" cy="596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1938000" y="8686800"/>
            <a:ext cx="495300" cy="596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11912600" y="11226800"/>
            <a:ext cx="4953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62700" y="6921500"/>
            <a:ext cx="13906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2006600"/>
            <a:ext cx="177800" cy="138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1539200" y="736600"/>
            <a:ext cx="2120900" cy="444500"/>
          </a:xfrm>
          <a:prstGeom prst="rect">
            <a:avLst/>
          </a:prstGeom>
        </p:spPr>
        <p:txBody>
          <a:bodyPr anchor="ctr" rtlCol="false" lIns="0" tIns="31864" rIns="0" bIns="31864"/>
          <a:lstStyle/>
          <a:p>
            <a:pPr algn="l" lvl="0">
              <a:lnSpc>
                <a:spcPct val="99600"/>
              </a:lnSpc>
            </a:pPr>
            <a:r>
              <a:rPr lang="en-US" sz="2509" b="false" i="false" u="none" strike="noStrike" spc="-100">
                <a:solidFill>
                  <a:srgbClr val="595959">
                    <a:alpha val="50980"/>
                  </a:srgbClr>
                </a:solidFill>
                <a:latin typeface="THELuxGoB"/>
                <a:ea typeface="THELuxGoB"/>
                <a:cs typeface="THELuxGoB"/>
              </a:rPr>
              <a:t>미리코퍼레이션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5575300"/>
            <a:ext cx="7124700" cy="306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-914400" y="6781800"/>
            <a:ext cx="3683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4813300"/>
            <a:ext cx="139700" cy="787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44600" y="2120900"/>
            <a:ext cx="11620500" cy="1104900"/>
          </a:xfrm>
          <a:prstGeom prst="rect">
            <a:avLst/>
          </a:prstGeom>
        </p:spPr>
        <p:txBody>
          <a:bodyPr anchor="ctr" rtlCol="false" lIns="0" tIns="78550" rIns="0" bIns="78550"/>
          <a:lstStyle/>
          <a:p>
            <a:pPr algn="l" lvl="0">
              <a:lnSpc>
                <a:spcPct val="99600"/>
              </a:lnSpc>
            </a:pPr>
            <a:r>
              <a:rPr lang="en-US" sz="6185" b="tru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6. 현장 최적화 기능 설계 및 도입 효과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600" y="47244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l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현장 내구성 극복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9400" y="6083300"/>
            <a:ext cx="6604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가혹한 실외 공사 현장의 환경적 요소를 고려함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000" y="6934200"/>
            <a:ext cx="67564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외부 충격과 습기를 완벽히 견디도록 내구성이 높은 PETG 재질 하우징 설계 완료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58300" y="5664200"/>
            <a:ext cx="7073900" cy="297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7124700" y="6819900"/>
            <a:ext cx="36068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4889500"/>
            <a:ext cx="139700" cy="762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258300" y="48133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l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대규모 확장성 확보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8500" y="5969000"/>
            <a:ext cx="65405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수많은 디바이스가 밀집되는 대규모 현장 환경을 고려함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8500" y="7277100"/>
            <a:ext cx="63754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사설망 내 MAC 주소 중복을 방지하기 위한 2차 필터링 검증 로직 구조 설계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005300" y="5765800"/>
            <a:ext cx="7073900" cy="297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4884400" y="6921500"/>
            <a:ext cx="3606800" cy="25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611600" y="5003800"/>
            <a:ext cx="139700" cy="762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7005300" y="4914900"/>
            <a:ext cx="5727700" cy="622300"/>
          </a:xfrm>
          <a:prstGeom prst="rect">
            <a:avLst/>
          </a:prstGeom>
        </p:spPr>
        <p:txBody>
          <a:bodyPr anchor="ctr" rtlCol="false" lIns="0" tIns="46819" rIns="0" bIns="46819"/>
          <a:lstStyle/>
          <a:p>
            <a:pPr algn="l" lvl="0">
              <a:lnSpc>
                <a:spcPct val="98770"/>
              </a:lnSpc>
            </a:pPr>
            <a:r>
              <a:rPr lang="en-US" sz="3511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직관적 관리 시스템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22800" y="6083300"/>
            <a:ext cx="65786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수많은 작업자의 장비가 현장에서 서로 섞이는 혼용 우려 문제를 사전 인지함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48200" y="7442200"/>
            <a:ext cx="6375400" cy="99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8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- 디바이스 외부에 고유 번호 스티커 매칭 시스템을 도입하여 직관적 관리 효율성 확보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7500" y="10299700"/>
            <a:ext cx="157734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373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[안전사고 예방] 미착용 상태 실시간 경고 ➔ 작업자 안전 수칙 준수율 향상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8900" y="9398000"/>
            <a:ext cx="5334000" cy="660400"/>
          </a:xfrm>
          <a:prstGeom prst="rect">
            <a:avLst/>
          </a:prstGeom>
        </p:spPr>
        <p:txBody>
          <a:bodyPr anchor="ctr" rtlCol="false" lIns="0" tIns="49784" rIns="0" bIns="49784"/>
          <a:lstStyle/>
          <a:p>
            <a:pPr algn="l" lvl="0">
              <a:lnSpc>
                <a:spcPct val="98770"/>
              </a:lnSpc>
            </a:pPr>
            <a:r>
              <a:rPr lang="en-US" sz="3733" b="false" i="false" u="none" strike="noStrike" spc="-100">
                <a:solidFill>
                  <a:srgbClr val="000000"/>
                </a:solidFill>
                <a:latin typeface="THELuxGoB"/>
                <a:ea typeface="THELuxGoB"/>
                <a:cs typeface="THELuxGoB"/>
              </a:rPr>
              <a:t>도입 기대 효과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7500" y="11315700"/>
            <a:ext cx="157734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373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[골든타임 확보] 현장 내 쓰러짐/낙상 감지 ➔ 관제 앱 즉시 알림 및 신속한 구조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7500" y="12331700"/>
            <a:ext cx="173990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3738" b="false" i="false" u="none" strike="noStrike" spc="-100">
                <a:solidFill>
                  <a:srgbClr val="000000"/>
                </a:solidFill>
                <a:latin typeface="THELuxGoR"/>
                <a:ea typeface="THELuxGoR"/>
                <a:cs typeface="THELuxGoR"/>
              </a:rPr>
              <a:t>[스마트 현장 전환] 경제적인 IoT 디바이스 기반 ➔ 대규모 현장 맞춤형 안전 시스템 도입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